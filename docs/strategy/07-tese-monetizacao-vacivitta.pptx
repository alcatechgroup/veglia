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1FA374">
              <a:alpha val="20000"/>
            </a:srgbClr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3458D6">
              <a:alpha val="20000"/>
            </a:srgbClr>
          </a:solidFill>
          <a:ln w="12700">
            <a:solidFill>
              <a:srgbClr val="3458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2D3578"/>
          </a:solidFill>
          <a:ln w="12700">
            <a:solidFill>
              <a:srgbClr val="5B6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spc="-1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Monetização Vacivita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franquias de vacinas em clínicas médicas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164592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26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para discussão estratégica interna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143000"/>
            <a:ext cx="1874520" cy="1261872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170432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766560" y="18105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6F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RRevela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2542032"/>
            <a:ext cx="1874520" cy="1115568"/>
          </a:xfrm>
          <a:prstGeom prst="rect">
            <a:avLst/>
          </a:prstGeom>
          <a:solidFill>
            <a:srgbClr val="1E2870"/>
          </a:solidFill>
          <a:ln w="12700">
            <a:solidFill>
              <a:srgbClr val="3B4BAA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25786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31272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entrada + recorrência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310128"/>
            <a:ext cx="5943600" cy="804672"/>
          </a:xfrm>
          <a:prstGeom prst="rect">
            <a:avLst/>
          </a:prstGeom>
          <a:solidFill>
            <a:srgbClr val="1E2870"/>
          </a:solidFill>
          <a:ln w="12700">
            <a:solidFill>
              <a:srgbClr val="3B4B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10128"/>
            <a:ext cx="59436" cy="80467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310128"/>
            <a:ext cx="5715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@ceo → </a:t>
            </a:r>
            <a:pPr algn="l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Orientando @po, @dev, @designer e @ux — Modelo revisado com Método CAM/PAM  ·  Tese produzida pela RRevela como parte do deal 20% outcome-based sobre licenciamentos Vacivitta destravados com IA.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1FA374">
              <a:alpha val="20000"/>
            </a:srgbClr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3458D6">
              <a:alpha val="20000"/>
            </a:srgbClr>
          </a:solidFill>
          <a:ln w="12700">
            <a:solidFill>
              <a:srgbClr val="3458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2D3578"/>
          </a:solidFill>
          <a:ln w="12700">
            <a:solidFill>
              <a:srgbClr val="5B6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CENTRAL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87782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 não é vacina.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02920" y="14813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spc="-5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infraestrutura plugável de imunização.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8138160" cy="1261872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212848"/>
            <a:ext cx="64008" cy="1261872"/>
          </a:xfrm>
          <a:prstGeom prst="rect">
            <a:avLst/>
          </a:prstGeom>
          <a:solidFill>
            <a:srgbClr val="5DD3A8"/>
          </a:solidFill>
          <a:ln w="12700">
            <a:solidFill>
              <a:srgbClr val="5DD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12848"/>
            <a:ext cx="7818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central:  </a:t>
            </a:r>
            <a:pPr algn="l" indent="0" marL="0">
              <a:buNone/>
            </a:pPr>
            <a:r>
              <a:rPr lang="en-US" sz="1400" dirty="0">
                <a:solidFill>
                  <a:srgbClr val="A0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Vacivita não deve ser pensada como uma vendedora de franquias de R$ 120 mil. Esse é apenas o pedágio de entrada. A verdadeira arquitetura está em transformar clínicas médicas em pontos permanentes de imunização, relacionamento e recorrência familiar/corporativa.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84448"/>
            <a:ext cx="8138160" cy="914400"/>
          </a:xfrm>
          <a:prstGeom prst="rect">
            <a:avLst/>
          </a:prstGeom>
          <a:solidFill>
            <a:srgbClr val="1E2870"/>
          </a:solidFill>
          <a:ln w="12700">
            <a:solidFill>
              <a:srgbClr val="3B4B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84448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clínica já tem o que uma loja de vacina isolada precisa construir do zero: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confiança, tráfego qualificado, indicação médica, prontuário, relacionamento e recorrência.</a:t>
            </a:r>
            <a:pPr algn="l"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Vacivita monetiza a camada que faltava: operação vacinal pronta e lucrativa.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pontos-chave da tese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59436" cy="585216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280160"/>
            <a:ext cx="7296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real:  </a:t>
            </a:r>
            <a:pPr algn="l" indent="0" marL="0">
              <a:buNone/>
            </a:pPr>
            <a:r>
              <a:rPr lang="en-US" sz="13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negócio não é vacina. É infraestrutura plugável de imunização dentro de clínicas médicas.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947672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47672"/>
            <a:ext cx="59436" cy="585216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4767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1947672"/>
            <a:ext cx="7296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vs. recorrência:  </a:t>
            </a:r>
            <a:pPr algn="l" indent="0" marL="0">
              <a:buNone/>
            </a:pPr>
            <a:r>
              <a:rPr lang="en-US" sz="13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de R$ 120 mil é importante, mas insuficiente. O valor real está na receita recorrente por unidade instalada.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615184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15184"/>
            <a:ext cx="59436" cy="585216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1518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2615184"/>
            <a:ext cx="7296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camadas:  </a:t>
            </a:r>
            <a:pPr algn="l" indent="0" marL="0">
              <a:buNone/>
            </a:pPr>
            <a:r>
              <a:rPr lang="en-US" sz="13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Vacivita pode monetizar royalties, abastecimento, tecnologia, campanhas, compliance, clube familiar e vacinação corporativa.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282696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282696"/>
            <a:ext cx="59436" cy="585216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8269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282696"/>
            <a:ext cx="7296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já existe:  </a:t>
            </a:r>
            <a:pPr algn="l" indent="0" marL="0">
              <a:buNone/>
            </a:pPr>
            <a:r>
              <a:rPr lang="en-US" sz="13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clínica tem fluxo, confiança, prontuário e recorrência. A Vacivita captura esse valor com método, marca e performance.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50208"/>
            <a:ext cx="59436" cy="585216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5020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3950208"/>
            <a:ext cx="7296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certa:  </a:t>
            </a:r>
            <a:pPr algn="l" indent="0" marL="0">
              <a:buNone/>
            </a:pPr>
            <a:r>
              <a:rPr lang="en-US" sz="13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maximizar franquias vendidas. Maximizar receita mensal média por clínica Vacivita instalada.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ATUAL vs. MODELO IDEAL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franquia de R$ 120 mil para plataforma de monetização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3749040" cy="3337560"/>
          </a:xfrm>
          <a:prstGeom prst="rect">
            <a:avLst/>
          </a:prstGeom>
          <a:solidFill>
            <a:srgbClr val="FAFAFE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3716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PENSAMENTO LIMITADO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645920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"Vamos vender mini franquias de R$ 120 mil."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2402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Receita de venda única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5923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Crescimento por novas unidades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294436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Pressão constante por expansão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329641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Franqueado passivo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64845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Sem recorrência garantida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40005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Taxa única, modelo frágil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24528" y="2423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937760" y="1261872"/>
            <a:ext cx="3749040" cy="3337560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261872"/>
            <a:ext cx="59436" cy="3337560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3716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— PENSAMENTO CORRETO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1645920"/>
            <a:ext cx="3493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"Construir rede de pontos de imunização com receita contínua."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24028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Receita recorrente por unidade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592324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Royalty, supply, tecnologia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944368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Campanhas e clube familiar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3296412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Vacinação corporativa local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64845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Plataforma de dados vacinais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4000500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Múltiplas camadas de valor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NÚCLEOS DE VALOR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problemas inevitáveis que a Vacivita resolve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41330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59436" cy="1417320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716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162763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Imunização Familiar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" y="201168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Famílias esquecem ou não sabem quais vacinas tomar.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4414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/ Alívio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10912" y="1298448"/>
            <a:ext cx="413308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10912" y="1298448"/>
            <a:ext cx="59436" cy="1417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37160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75504" y="162763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Médica Integrada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2011680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identifica risco, mas clínica não captura a vacinação.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75504" y="2441448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44368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44368"/>
            <a:ext cx="59436" cy="1536192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Conveniência em Saúde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não quer procurar outro lugar para se vacinar.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Alívio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2944368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944368"/>
            <a:ext cx="59436" cy="1536192"/>
          </a:xfrm>
          <a:prstGeom prst="rect">
            <a:avLst/>
          </a:prstGeom>
          <a:solidFill>
            <a:srgbClr val="3458D6"/>
          </a:solidFill>
          <a:ln w="12700">
            <a:solidFill>
              <a:srgbClr val="3458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5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Adicional para Clínicas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64992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tem fluxo e pacientes mas monetiza pouco.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64992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45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Conquista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944368"/>
            <a:ext cx="26517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943600" y="2944368"/>
            <a:ext cx="59436" cy="15361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08192" y="3017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08192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 Operação Vacinal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08192" y="3657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querem vacinar mas não operam com segurança sanitária.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08192" y="42062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DE RECEITA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linhas atuais  ·  15 linhas ocultas identificadas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38404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61872"/>
            <a:ext cx="59436" cy="3310128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53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ATUAIS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1682496"/>
            <a:ext cx="3520440" cy="502920"/>
          </a:xfrm>
          <a:prstGeom prst="rect">
            <a:avLst/>
          </a:prstGeom>
          <a:solidFill>
            <a:srgbClr val="F4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7007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franquia / implantação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19385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 mil por unidade. Alto ticket, mas venda única.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2249424"/>
            <a:ext cx="3520440" cy="502920"/>
          </a:xfrm>
          <a:prstGeom prst="rect">
            <a:avLst/>
          </a:prstGeom>
          <a:solidFill>
            <a:srgbClr val="F4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2677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vacinas ao paciente final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8096" y="2505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Direta, compartilhada ou pelo franqueado.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" y="2816352"/>
            <a:ext cx="3520440" cy="502920"/>
          </a:xfrm>
          <a:prstGeom prst="rect">
            <a:avLst/>
          </a:prstGeom>
          <a:solidFill>
            <a:srgbClr val="F4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28346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sobre abastecimento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" y="3072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crítica se a Vacivita centralizar compras.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383280"/>
            <a:ext cx="3520440" cy="502920"/>
          </a:xfrm>
          <a:prstGeom prst="rect">
            <a:avLst/>
          </a:prstGeom>
          <a:solidFill>
            <a:srgbClr val="F4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4015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inicial da equipe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8096" y="3639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embutido na taxa, pode estar submonetizado.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950208"/>
            <a:ext cx="3520440" cy="502920"/>
          </a:xfrm>
          <a:prstGeom prst="rect">
            <a:avLst/>
          </a:prstGeom>
          <a:solidFill>
            <a:srgbClr val="F4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39684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Licenciamento da marca e método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" y="42062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virar recorrência, não só taxa inicial.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62272" y="1261872"/>
            <a:ext cx="4224528" cy="3310128"/>
          </a:xfrm>
          <a:prstGeom prst="rect">
            <a:avLst/>
          </a:prstGeom>
          <a:solidFill>
            <a:srgbClr val="F6FFF9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62272" y="1261872"/>
            <a:ext cx="59436" cy="3310128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1353312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OCULTAS (15 identificadas)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26864" y="16824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Royalty mensal da unidade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26864" y="19522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Fee de tecnologia / prontuário vacinal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626864" y="2221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Clube de vacinação familiar (assinatura)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626864" y="24917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Campanhas sazonais (influenza, dengue, HPV)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26864" y="27614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Vacinação corporativa via clínicas parceiras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626864" y="30312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Assinatura de compliance sanitário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626864" y="33009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Universidade Vacivita (treinamentos)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26864" y="35707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Compra centralizada de imunizantes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26864" y="38404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Marketing local para franqueados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626864" y="41102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Vacinação domiciliar premium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626864" y="4261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linhas adicionais na análise completa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517136"/>
            <a:ext cx="8229600" cy="201168"/>
          </a:xfrm>
          <a:prstGeom prst="rect">
            <a:avLst/>
          </a:prstGeom>
          <a:solidFill>
            <a:srgbClr val="FFF8ED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51713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A0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Leitura CAM: o maior erro é entregar tecnologia, suporte e campanhas dentro da taxa sem criar recorrência.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GBB — FRANQUEADOS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· Better · Best para clínicas médicas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comercial deve ser empurrar para o Better, com o Best ancorando valor.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2697480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36192"/>
            <a:ext cx="2697480" cy="329184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361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Unidade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2231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R$ 120.000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pequenas e médias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Implantação básica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163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Marca e método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Treinamento inicial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785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Acesso ao fornecedor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Entrada segura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73552" y="1536192"/>
            <a:ext cx="2697480" cy="3035808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1536192"/>
            <a:ext cx="2697480" cy="32918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15361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 ★ RECOMENDADO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Performance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22311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R$ 160k – 220k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383280" y="25968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com alto fluxo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Tudo do Good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163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Software e prontuário vacinal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Marketing local incluso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Suporte comercial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096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Campanhas prontas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53328" y="1536192"/>
            <a:ext cx="2633472" cy="3035808"/>
          </a:xfrm>
          <a:prstGeom prst="rect">
            <a:avLst/>
          </a:prstGeom>
          <a:solidFill>
            <a:srgbClr val="FFF8ED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1536192"/>
            <a:ext cx="2633472" cy="32918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15361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63056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Regional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163056" y="22311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R$ 300k+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163056" y="2596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e grupos médicos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63056" y="2852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Tudo do Better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63056" y="3163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Exclusividade territorial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63056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Vacinação corporativa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63056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Campanhas premium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63056" y="4096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Consultoria de expansão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GBB PACIENTE + POTENCIAL DE RECORRÊNCIA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paciente avulso ao clube recorrente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2743200" cy="1463040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1572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 Avulsa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19202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individual, sem vínculo.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4992" y="1261872"/>
            <a:ext cx="2743200" cy="1463040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4992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572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Ciclo de Vida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Infantil, gestante, idoso, viajante.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72784" y="1261872"/>
            <a:ext cx="2743200" cy="1463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2784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82512" y="157276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Premium Familiar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2512" y="192024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monitorada, lembretes, prioridade, atendimento domiciliar.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52928"/>
            <a:ext cx="8229600" cy="640080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52928"/>
            <a:ext cx="59436" cy="640080"/>
          </a:xfrm>
          <a:prstGeom prst="rect">
            <a:avLst/>
          </a:prstGeom>
          <a:solidFill>
            <a:srgbClr val="5DD3A8"/>
          </a:solidFill>
          <a:ln w="12700">
            <a:solidFill>
              <a:srgbClr val="5DD3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8529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recorrência:  </a:t>
            </a:r>
            <a:pPr algn="l" indent="0" marL="0">
              <a:buNone/>
            </a:pPr>
            <a:r>
              <a:rPr lang="en-US" sz="1200" dirty="0">
                <a:solidFill>
                  <a:srgbClr val="A0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vender vacina. É vender gestão vacinal contínua: monitorar o que cada pessoa precisa tomar, quando precisa e qual é o próximo risco prevenível.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210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FATORES DE RECORRÊNCIA NATURAL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95344"/>
            <a:ext cx="4114800" cy="347472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95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por idade: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acompanhamento contínuo.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895344"/>
            <a:ext cx="4114800" cy="347472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95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Reforços e doses futuras: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Agendamento, lembrete e retorno garantido.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06824"/>
            <a:ext cx="4114800" cy="347472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3068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48840" y="4306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anuais e maior demanda periódica.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4306824"/>
            <a:ext cx="4114800" cy="347472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3068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risco: 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4306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Viagens, gestação, envelhecimento, surtos.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SPIN-OFF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linhas de negócio que a plataforma pode gerar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20299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59436" cy="153619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Tech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173736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de carteira vacinal, CRM, alertas e campanhas.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2523744"/>
            <a:ext cx="1115568" cy="201168"/>
          </a:xfrm>
          <a:prstGeom prst="rect">
            <a:avLst/>
          </a:prstGeom>
          <a:solidFill>
            <a:srgbClr val="2E4FC4">
              <a:alpha val="15000"/>
            </a:srgbClr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237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33472" y="1298448"/>
            <a:ext cx="20299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1298448"/>
            <a:ext cx="59436" cy="1536192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Club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98064" y="173736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de vacinação familiar. Recorrência direta no paciente.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98064" y="2523744"/>
            <a:ext cx="1115568" cy="201168"/>
          </a:xfrm>
          <a:prstGeom prst="rect">
            <a:avLst/>
          </a:prstGeom>
          <a:solidFill>
            <a:srgbClr val="1FA374">
              <a:alpha val="15000"/>
            </a:srgbClr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98064" y="25237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ALTÍSSIMO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09744" y="1298448"/>
            <a:ext cx="20299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9744" y="1298448"/>
            <a:ext cx="59436" cy="153619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74336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Corporate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74336" y="173736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Vacinação empresarial. Alto volume e cross-sell.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74336" y="2523744"/>
            <a:ext cx="1115568" cy="201168"/>
          </a:xfrm>
          <a:prstGeom prst="rect">
            <a:avLst/>
          </a:prstGeom>
          <a:solidFill>
            <a:srgbClr val="2E4FC4">
              <a:alpha val="15000"/>
            </a:srgbClr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25237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86016" y="1298448"/>
            <a:ext cx="20299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86016" y="1298448"/>
            <a:ext cx="59436" cy="1536192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0608" y="137160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Home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50608" y="173736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Vacinação domiciliar premium. Upsell de conveniência.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50608" y="2523744"/>
            <a:ext cx="1115568" cy="201168"/>
          </a:xfrm>
          <a:prstGeom prst="rect">
            <a:avLst/>
          </a:prstGeom>
          <a:solidFill>
            <a:srgbClr val="5B8EE2">
              <a:alpha val="15000"/>
            </a:srgbClr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25237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MÉDIO/ALTO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88136" y="2980944"/>
            <a:ext cx="24871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88136" y="2980944"/>
            <a:ext cx="59436" cy="1536192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52728" y="30540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Academy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52728" y="34198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certificação para clínicas.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252728" y="4206240"/>
            <a:ext cx="1115568" cy="201168"/>
          </a:xfrm>
          <a:prstGeom prst="rect">
            <a:avLst/>
          </a:prstGeom>
          <a:solidFill>
            <a:srgbClr val="5B8EE2">
              <a:alpha val="15000"/>
            </a:srgbClr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52728" y="42062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MÉDIO/ALTO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721608" y="2980944"/>
            <a:ext cx="24871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21608" y="2980944"/>
            <a:ext cx="59436" cy="153619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30540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Compliance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86200" y="34198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sanitária, POPs e implantação.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886200" y="4206240"/>
            <a:ext cx="1115568" cy="201168"/>
          </a:xfrm>
          <a:prstGeom prst="rect">
            <a:avLst/>
          </a:prstGeom>
          <a:solidFill>
            <a:srgbClr val="2E4FC4">
              <a:alpha val="15000"/>
            </a:srgbClr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86200" y="42062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55080" y="2980944"/>
            <a:ext cx="2487168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55080" y="2980944"/>
            <a:ext cx="59436" cy="153619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30540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Supply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19672" y="3419856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compras, logística e distribuição.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19672" y="4206240"/>
            <a:ext cx="1115568" cy="201168"/>
          </a:xfrm>
          <a:prstGeom prst="rect">
            <a:avLst/>
          </a:prstGeom>
          <a:solidFill>
            <a:srgbClr val="2E4FC4">
              <a:alpha val="15000"/>
            </a:srgbClr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9672" y="420624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57200" y="4443984"/>
            <a:ext cx="8229600" cy="256032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4439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Vacivita Club é o spin-off mais promissor: cria vínculo direto, recorrente e cumulativo com pacientes e famílias, reduzindo dependência da clínica como único canal.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DE MONETIZAÇÃO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densidade latente · baixa densidade capturada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POTENCIAL (MÉTODO CAM)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4114800" cy="320040"/>
          </a:xfrm>
          <a:prstGeom prst="rect">
            <a:avLst/>
          </a:prstGeom>
          <a:solidFill>
            <a:srgbClr val="F2F6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536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Núcleos identificados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361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892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atuais prováveis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8928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249424"/>
            <a:ext cx="4114800" cy="320040"/>
          </a:xfrm>
          <a:prstGeom prst="rect">
            <a:avLst/>
          </a:prstGeom>
          <a:solidFill>
            <a:srgbClr val="F2F6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2494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ocultas identificadas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2494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latentes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606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62656"/>
            <a:ext cx="4114800" cy="320040"/>
          </a:xfrm>
          <a:prstGeom prst="rect">
            <a:avLst/>
          </a:prstGeom>
          <a:solidFill>
            <a:srgbClr val="F2F6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62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Recorrências possíveis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9626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19272"/>
            <a:ext cx="4114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3192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GBB aplicável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3192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múltiplas linhas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675888"/>
            <a:ext cx="4114800" cy="320040"/>
          </a:xfrm>
          <a:prstGeom prst="rect">
            <a:avLst/>
          </a:prstGeom>
          <a:solidFill>
            <a:srgbClr val="F2F6FF"/>
          </a:solidFill>
          <a:ln w="6350">
            <a:solidFill>
              <a:srgbClr val="E2E9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Spin-offs possíveis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6758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0" y="12618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CAM — NÍVEIS DE MONETIZAÇÃO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536192"/>
            <a:ext cx="3931920" cy="804672"/>
          </a:xfrm>
          <a:prstGeom prst="rect">
            <a:avLst/>
          </a:prstGeom>
          <a:solidFill>
            <a:srgbClr val="FFF0F2"/>
          </a:solidFill>
          <a:ln w="19050">
            <a:solidFill>
              <a:srgbClr val="E94B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536192"/>
            <a:ext cx="59436" cy="804672"/>
          </a:xfrm>
          <a:prstGeom prst="rect">
            <a:avLst/>
          </a:prstGeom>
          <a:solidFill>
            <a:srgbClr val="E94B5C"/>
          </a:solidFill>
          <a:ln w="12700">
            <a:solidFill>
              <a:srgbClr val="E94B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158191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R$ 120k + venda de vacina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197510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Submonetizado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754880" y="2496312"/>
            <a:ext cx="3931920" cy="804672"/>
          </a:xfrm>
          <a:prstGeom prst="rect">
            <a:avLst/>
          </a:prstGeom>
          <a:solidFill>
            <a:srgbClr val="EEF3FF"/>
          </a:solidFill>
          <a:ln w="19050">
            <a:solidFill>
              <a:srgbClr val="2E4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496312"/>
            <a:ext cx="59436" cy="80467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54203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Royalty, supply, tecnologia e campanhas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293522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Estrategista / Arquiteto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3931920" cy="804672"/>
          </a:xfrm>
          <a:prstGeom prst="rect">
            <a:avLst/>
          </a:prstGeom>
          <a:solidFill>
            <a:srgbClr val="F0FAF6"/>
          </a:solidFill>
          <a:ln w="19050">
            <a:solidFill>
              <a:srgbClr val="1FA3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456432"/>
            <a:ext cx="59436" cy="804672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502152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Clube, SaaS, Corporate e Hub Regional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19472" y="389534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 / Lendário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solidFill>
            <a:srgbClr val="1A1F4F"/>
          </a:solidFill>
          <a:ln w="12700">
            <a:solidFill>
              <a:srgbClr val="1A1F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43708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recomendado:  </a:t>
            </a:r>
            <a:pPr algn="l"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"Franquia" parece unidade. "Infraestrutura" parece plataforma. A Vacivita deve se posicionar como a infraestrutura de imunização plugável para clínicas médicas.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DE MONETIZAÇÃO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movimentos para maximizar receita por unidade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59436" cy="98755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533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57276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arquitetura em camadas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186537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deve ser empurrar para o Better, com o Best ancorando valor.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129844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28032" y="1298448"/>
            <a:ext cx="59436" cy="987552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3533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92624" y="157276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royalty híbrido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92624" y="1865376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Fixo mínimo + variável sobre faturamento. Protege de unidades fracas e captura upside de unidades fortes.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77440"/>
            <a:ext cx="59436" cy="98755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432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" y="265176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Vacivita Club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29443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paciente que entra pela clínica vira cliente recorrente da rede. Assinatura mensal ou anual por família.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2377440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2377440"/>
            <a:ext cx="59436" cy="987552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43230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92624" y="2651760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calendário comercial anual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92624" y="294436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Vacina tem momento. Influenza, dengue, HPV, volta às aulas. Momento é mecanismo de monetização.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456432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456432"/>
            <a:ext cx="59436" cy="987552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511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37307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como canal de ativação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" y="402336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 protocolos com compliance. Recomendação médica legítima convertida em receita estruturada.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28032" y="3456432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28032" y="3456432"/>
            <a:ext cx="59436" cy="987552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35112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92624" y="373075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performance do franqueado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92624" y="402336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dados, é franqueadora operacional. Com dados, vira plataforma. Dashboard, métricas, conversão.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PRÁTICO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fases para virar plataforma de monetização vacinal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2029968" cy="274320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98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8E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72768"/>
            <a:ext cx="50292" cy="3017520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6276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Modelo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2139696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de "franquia de R$120k" para "plataforma de monetização vacinal".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" y="279806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Desenhar GBB: Good, Better, Best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1272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Separar taxa, royalty, supply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Contrato de recorrência obrigatório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7856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Tese de valor para a clínica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4114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Mapear compliance por estado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33472" y="1298448"/>
            <a:ext cx="2029968" cy="2743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1298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33472" y="1572768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33472" y="1572768"/>
            <a:ext cx="50292" cy="30175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98064" y="16276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de Unidade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98064" y="2139696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Provar que a clínica consegue vender vacina todos os meses.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98064" y="279806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Script recepção e enfermagem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98064" y="31272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Script para médico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98064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Jornada do paciente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98064" y="37856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Calendário de campanhas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98064" y="4114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de performance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9744" y="1298448"/>
            <a:ext cx="2029968" cy="274320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298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9744" y="1572768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A3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9744" y="1572768"/>
            <a:ext cx="50292" cy="3017520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16276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Linhas Recorrentes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74336" y="2139696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cada unidade gerar receita contínua para a Vacivita.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74336" y="279806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Royalty mensal e fee de tech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74336" y="31272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Margem de supply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74336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Campanhas mensais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74336" y="37856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Clube familiar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74336" y="4114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Corporativo local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86016" y="1298448"/>
            <a:ext cx="2029968" cy="2743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86016" y="129844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86016" y="1572768"/>
            <a:ext cx="2029968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86016" y="1572768"/>
            <a:ext cx="50292" cy="30175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0608" y="16276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Pilotos de Alto Aprendizado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150608" y="2139696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onde o problema inevitável é mais forte.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150608" y="2798064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Pediatria: alto calendário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150608" y="312724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Clínica de família: base ampla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50608" y="34564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Geriatria / preventiva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50608" y="3785616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Métricas de validação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50608" y="411480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Expandir modelos validados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APONTAMENTO DE FOCO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priorizar em cada dimensão do negócio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41605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98448"/>
            <a:ext cx="59436" cy="1591056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35331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2E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COMERCIAL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1792" y="1609344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clínicas: alto fluxo, pediatria, família, gestantes, idosos, medicina preventiva, dono com mentalidade empresarial, base recorrente de pacientes.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2286000"/>
            <a:ext cx="3858768" cy="548640"/>
          </a:xfrm>
          <a:prstGeom prst="rect">
            <a:avLst/>
          </a:prstGeom>
          <a:solidFill>
            <a:srgbClr val="FFF5F0"/>
          </a:solidFill>
          <a:ln w="12700">
            <a:solidFill>
              <a:srgbClr val="E8D0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</a:t>
            </a:r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vender para clínica que só quer "mais uma salinha".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28032" y="1298448"/>
            <a:ext cx="41605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8032" y="1298448"/>
            <a:ext cx="59436" cy="1591056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135331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MONETIZAÇÃO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92624" y="1609344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prioridade não é maximizar franquias vendidas. É maximizar receita mensal média por clínica Vacivita instalada.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92624" y="2286000"/>
            <a:ext cx="3858768" cy="548640"/>
          </a:xfrm>
          <a:prstGeom prst="rect">
            <a:avLst/>
          </a:prstGeom>
          <a:solidFill>
            <a:srgbClr val="FFF5F0"/>
          </a:solidFill>
          <a:ln w="12700">
            <a:solidFill>
              <a:srgbClr val="E8D0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84064" y="22860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</a:t>
            </a:r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crescimento por volume que não gera MRR desde o primeiro mês.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80944"/>
            <a:ext cx="41605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80944"/>
            <a:ext cx="59436" cy="1591056"/>
          </a:xfrm>
          <a:prstGeom prst="rect">
            <a:avLst/>
          </a:prstGeom>
          <a:solidFill>
            <a:srgbClr val="3458D6"/>
          </a:solidFill>
          <a:ln w="12700">
            <a:solidFill>
              <a:srgbClr val="3458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3580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345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DE PRODUTO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" y="3291840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é operação vacinal pronta, segura e lucrativa: marca + método + treinamento + supply + tecnologia + campanhas + compliance.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" y="3968496"/>
            <a:ext cx="3858768" cy="548640"/>
          </a:xfrm>
          <a:prstGeom prst="rect">
            <a:avLst/>
          </a:prstGeom>
          <a:solidFill>
            <a:srgbClr val="FFF5F0"/>
          </a:solidFill>
          <a:ln w="12700">
            <a:solidFill>
              <a:srgbClr val="E8D0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968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</a:t>
            </a:r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posicionar como distribuidor de imunizantes. Posicionar como arquitetura operacional completa.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28032" y="2980944"/>
            <a:ext cx="41605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2980944"/>
            <a:ext cx="59436" cy="15910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92624" y="303580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ESTRATÉGICO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92624" y="3291840"/>
            <a:ext cx="3858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rede em que cada clínica seja ponto de aplicação, relacionamento, venda familiar, venda corporativa, fonte de dados e unidade recorrente.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92624" y="3968496"/>
            <a:ext cx="3858768" cy="548640"/>
          </a:xfrm>
          <a:prstGeom prst="rect">
            <a:avLst/>
          </a:prstGeom>
          <a:solidFill>
            <a:srgbClr val="FFF5F0"/>
          </a:solidFill>
          <a:ln w="12700">
            <a:solidFill>
              <a:srgbClr val="E8D0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84064" y="396849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Não: </a:t>
            </a:r>
            <a:pPr algn="l" indent="0" marL="0">
              <a:buNone/>
            </a:pPr>
            <a:r>
              <a:rPr lang="en-US" sz="1000" dirty="0">
                <a:solidFill>
                  <a:srgbClr val="4B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construir rede de salas de vacina. Construir plataforma de imunização distribuída e recorrente.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F2F6FF"/>
          </a:solidFill>
          <a:ln w="12700">
            <a:solidFill>
              <a:srgbClr val="E2E9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39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F0FAF6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FA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LINHAS COM MAIOR POTENCIAL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impacto financeiro e estratégico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298448"/>
            <a:ext cx="8229600" cy="603504"/>
          </a:xfrm>
          <a:prstGeom prst="rect">
            <a:avLst/>
          </a:prstGeom>
          <a:solidFill>
            <a:srgbClr val="1A1F4F"/>
          </a:solidFill>
          <a:ln w="12700">
            <a:solidFill>
              <a:srgbClr val="1A1F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98448"/>
            <a:ext cx="71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8016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Royalty + Supply Recorrente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6F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previsível por unidade. A espinha dorsal financeira do modelo.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74920" y="1444752"/>
            <a:ext cx="2953512" cy="2926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603504"/>
          </a:xfrm>
          <a:prstGeom prst="rect">
            <a:avLst/>
          </a:prstGeom>
          <a:solidFill>
            <a:srgbClr val="1FA374"/>
          </a:solidFill>
          <a:ln w="12700">
            <a:solidFill>
              <a:srgbClr val="1FA37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1965960"/>
            <a:ext cx="71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80160" y="2002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Club Familiar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295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6F0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direta no paciente final. Independe de novas franquias.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2112264"/>
            <a:ext cx="2432304" cy="292608"/>
          </a:xfrm>
          <a:prstGeom prst="rect">
            <a:avLst/>
          </a:prstGeom>
          <a:solidFill>
            <a:srgbClr val="5DD3A8">
              <a:alpha val="45000"/>
            </a:srgbClr>
          </a:solidFill>
          <a:ln w="12700">
            <a:solidFill>
              <a:srgbClr val="5DD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1122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33472"/>
            <a:ext cx="8229600" cy="603504"/>
          </a:xfrm>
          <a:prstGeom prst="rect">
            <a:avLst/>
          </a:prstGeom>
          <a:solidFill>
            <a:srgbClr val="2E4FC4"/>
          </a:solidFill>
          <a:ln w="12700">
            <a:solidFill>
              <a:srgbClr val="2E4F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633472"/>
            <a:ext cx="71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80160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GBB de Franquia — Hub Regional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ticket inicial e captura redes médicas e grupos regionais.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2779776"/>
            <a:ext cx="2015338" cy="29260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7797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ticket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00984"/>
            <a:ext cx="8229600" cy="603504"/>
          </a:xfrm>
          <a:prstGeom prst="rect">
            <a:avLst/>
          </a:prstGeom>
          <a:solidFill>
            <a:srgbClr val="3458D6"/>
          </a:solidFill>
          <a:ln w="12700">
            <a:solidFill>
              <a:srgbClr val="3458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300984"/>
            <a:ext cx="71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28016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Sazonais Padronizadas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630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 momento e urgência. Baixo custo, alto impacto comercial.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3447288"/>
            <a:ext cx="1598371" cy="29260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4472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68496"/>
            <a:ext cx="8229600" cy="603504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3968496"/>
            <a:ext cx="713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1280160" y="4005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Vacivita Corporate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2976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volume, bom cross-sell e expansão do relacionamento local.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74920" y="4114800"/>
            <a:ext cx="1216152" cy="29260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4114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B2B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54880"/>
            <a:ext cx="7498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1FA374">
              <a:alpha val="20000"/>
            </a:srgbClr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3458D6">
              <a:alpha val="20000"/>
            </a:srgbClr>
          </a:solidFill>
          <a:ln w="12700">
            <a:solidFill>
              <a:srgbClr val="3458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solidFill>
            <a:srgbClr val="2D3578"/>
          </a:solidFill>
          <a:ln w="12700">
            <a:solidFill>
              <a:srgbClr val="5B6E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solidFill>
            <a:srgbClr val="0D3D24"/>
          </a:solidFill>
          <a:ln w="12700">
            <a:solidFill>
              <a:srgbClr val="1FA3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201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VACIVITTA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5486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PROVOCADORA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960120"/>
            <a:ext cx="8229600" cy="585216"/>
          </a:xfrm>
          <a:prstGeom prst="rect">
            <a:avLst/>
          </a:prstGeom>
          <a:solidFill>
            <a:srgbClr val="1E2870"/>
          </a:solidFill>
          <a:ln w="12700">
            <a:solidFill>
              <a:srgbClr val="E94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960120"/>
            <a:ext cx="59436" cy="585216"/>
          </a:xfrm>
          <a:prstGeom prst="rect">
            <a:avLst/>
          </a:prstGeom>
          <a:solidFill>
            <a:srgbClr val="E94B5C"/>
          </a:solidFill>
          <a:ln w="12700">
            <a:solidFill>
              <a:srgbClr val="E94B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9966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franquias de R$ 120 mil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12527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Cresce, mas depende sempre de novas vendas.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960120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4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1618488"/>
            <a:ext cx="8229600" cy="585216"/>
          </a:xfrm>
          <a:prstGeom prst="rect">
            <a:avLst/>
          </a:prstGeom>
          <a:solidFill>
            <a:srgbClr val="1E2870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618488"/>
            <a:ext cx="59436" cy="585216"/>
          </a:xfrm>
          <a:prstGeom prst="rect">
            <a:avLst/>
          </a:prstGeom>
          <a:solidFill>
            <a:srgbClr val="5B8EE2"/>
          </a:solidFill>
          <a:ln w="12700">
            <a:solidFill>
              <a:srgbClr val="5B8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6550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rede com royalty e supply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19110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 previsibilidade e escala.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161848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02920" y="2276856"/>
            <a:ext cx="8229600" cy="585216"/>
          </a:xfrm>
          <a:prstGeom prst="rect">
            <a:avLst/>
          </a:prstGeom>
          <a:solidFill>
            <a:srgbClr val="1E2870"/>
          </a:solidFill>
          <a:ln w="12700">
            <a:solidFill>
              <a:srgbClr val="5DD3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276856"/>
            <a:ext cx="59436" cy="585216"/>
          </a:xfrm>
          <a:prstGeom prst="rect">
            <a:avLst/>
          </a:prstGeom>
          <a:solidFill>
            <a:srgbClr val="5DD3A8"/>
          </a:solidFill>
          <a:ln w="12700">
            <a:solidFill>
              <a:srgbClr val="5DD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31343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 plataforma de imunização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256946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Constrói ecossistema de alto valor.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2276856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→→→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02920" y="2962656"/>
            <a:ext cx="8229600" cy="1554480"/>
          </a:xfrm>
          <a:prstGeom prst="rect">
            <a:avLst/>
          </a:prstGeom>
          <a:solidFill>
            <a:srgbClr val="0D3D24"/>
          </a:solidFill>
          <a:ln w="19050">
            <a:solidFill>
              <a:srgbClr val="5DD3A8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962656"/>
            <a:ext cx="64008" cy="1554480"/>
          </a:xfrm>
          <a:prstGeom prst="rect">
            <a:avLst/>
          </a:prstGeom>
          <a:solidFill>
            <a:srgbClr val="5DD3A8"/>
          </a:solidFill>
          <a:ln w="12700">
            <a:solidFill>
              <a:srgbClr val="5DD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0175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2552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Vacivita não deve ser uma franqueadora de salas de vacina.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5800" y="36576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D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ser a arquitetura nacional de monetização da imunização dentro de clínicas médicas.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" y="416966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RRevela × Vacivitta — Método CAM/PAM | 2026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2184A"/>
          </a:solidFill>
          <a:ln w="12700">
            <a:solidFill>
              <a:srgbClr val="1218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754880"/>
            <a:ext cx="77724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RRevela × Vacivitta  ·  Arquitetura de Monetização  ·  Documento Estratégico Interno  · 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640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Monetização Vacivita — RRevela</dc:title>
  <dc:subject>PptxGenJS Presentation</dc:subject>
  <dc:creator>RRevela × Vacivitta</dc:creator>
  <cp:lastModifiedBy>RRevela × Vacivitta</cp:lastModifiedBy>
  <cp:revision>1</cp:revision>
  <dcterms:created xsi:type="dcterms:W3CDTF">2026-05-03T19:00:22Z</dcterms:created>
  <dcterms:modified xsi:type="dcterms:W3CDTF">2026-05-03T19:00:22Z</dcterms:modified>
</cp:coreProperties>
</file>